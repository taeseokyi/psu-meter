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Arial"/>
              </a:rPr>
              <a:t>항목별 기여 오차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기여 오차 (PSU)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A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표준액 정확도</c:v>
                  </c:pt>
                  <c:pt idx="1">
                    <c:v>에지 검출 노이즈</c:v>
                  </c:pt>
                  <c:pt idx="2">
                    <c:v>기포 · 재현성</c:v>
                  </c:pt>
                  <c:pt idx="3">
                    <c:v>캐리오버(10× 플러시)</c:v>
                  </c:pt>
                  <c:pt idx="4">
                    <c:v>기구 열팽창 잔차</c:v>
                  </c:pt>
                  <c:pt idx="5">
                    <c:v>잔류 온도차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</c:v>
                </c:pt>
                <c:pt idx="1">
                  <c:v>0.05</c:v>
                </c:pt>
                <c:pt idx="2">
                  <c:v>0.03</c:v>
                </c:pt>
                <c:pt idx="3">
                  <c:v>0.01</c:v>
                </c:pt>
                <c:pt idx="4">
                  <c:v>0.01</c:v>
                </c:pt>
                <c:pt idx="5">
                  <c:v>0.003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50" u="none">
                  <a:solidFill>
                    <a:srgbClr val="1A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2"/>
        </c:scaling>
        <c:delete val="0"/>
        <c:axPos val="b"/>
        <c:majorGridlines>
          <c:spPr>
            <a:ln w="12700" cap="flat">
              <a:solidFill>
                <a:srgbClr val="E6ED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78899A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78899A"/>
                    </a:solidFill>
                    <a:latin typeface="Arial"/>
                  </a:rPr>
                  <a:t>PSU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889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설계의 핵심은 매 측정 사이클마다 RO-DI와 표준액 두 점으로 자가보정을 수행해, 온도·LED 파장·광량·기구 드리프트를 모두 상쇄시키는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요구 분해능 자체보다 온도와 광원 파장이 더 큰 문제라는 점이 이 설계의 출발점입니다.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LED는 부채꼴 광선속으로 측정면 한 점에 모여야 합니다. 단일 평행광이면 각도 분포가 없어 경계선 자체가 생기지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서브픽셀 에지 피팅으로 1/20 픽셀까지 읽으면 0.05 PSU 분해능이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RSS = sqrt(0.1^2 + 0.05^2 + 0.03^2 + 0.01^2 + 0.01^2 + 0.003^2) = 0.117 PSU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00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8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문서   ·  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해수 수조 광학식 염도 측정 시스템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B9D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임계각 굴절계 방식  ·  34 PSU 자동 모니터링  ·  하루 2회 무인 측정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B9D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BK7 반원통 렌즈 + 단색 LED + TSL1401 리니어 어레이 + 매 사이클 2점 자가보정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5074920"/>
            <a:ext cx="118872" cy="118872"/>
          </a:xfrm>
          <a:prstGeom prst="ellipse">
            <a:avLst/>
          </a:prstGeom>
          <a:solidFill>
            <a:srgbClr val="E8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8992" y="4956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취미용 부품으로 만드는 실험실급 구조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목표와 요구 정밀도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8696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염도는 굴절률로 환산해 측정합니다. 먼저 얼마나 정밀해야 하는지부터 확인합니다.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670048" cy="1874520"/>
          </a:xfrm>
          <a:prstGeom prst="roundRect">
            <a:avLst>
              <a:gd name="adj" fmla="val 2927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664208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1.81×10⁻⁴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28600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염도 1 PSU 당 굴절률 변화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615184"/>
            <a:ext cx="2267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해수 굴절률 경험식(OSU)에서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°C, 590 nm 기준으로 계산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01568" y="1481328"/>
            <a:ext cx="2670048" cy="1874520"/>
          </a:xfrm>
          <a:prstGeom prst="roundRect">
            <a:avLst>
              <a:gd name="adj" fmla="val 2927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02736" y="1664208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14,800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602736" y="228600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±0.5 PSU 를 위한 분해능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602736" y="2615184"/>
            <a:ext cx="2267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Δn ≈ 9.1×10⁻⁵ 을 읽어야 함.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굴절률의 1만 5천분의 1 수준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6208" y="1481328"/>
            <a:ext cx="2670048" cy="1874520"/>
          </a:xfrm>
          <a:prstGeom prst="roundRect">
            <a:avLst>
              <a:gd name="adj" fmla="val 2927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37376" y="1664208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4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0.667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228600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온도 1 °C 당 PSU 오차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2615184"/>
            <a:ext cx="2267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절대 측정 시. 온도가 정밀도를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좌우하는 가장 큰 변수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70848" y="1481328"/>
            <a:ext cx="2523744" cy="1874520"/>
          </a:xfrm>
          <a:prstGeom prst="roundRect">
            <a:avLst>
              <a:gd name="adj" fmla="val 2927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72016" y="1664208"/>
            <a:ext cx="2121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0.19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272016" y="228600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파장 1 nm 당 PSU 오차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272016" y="2615184"/>
            <a:ext cx="21214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분산(dispersion) 때문.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광원 선택이 설계를 결정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611880"/>
            <a:ext cx="11027664" cy="2395728"/>
          </a:xfrm>
          <a:prstGeom prst="roundRect">
            <a:avLst>
              <a:gd name="adj" fmla="val 2290"/>
            </a:avLst>
          </a:prstGeom>
          <a:solidFill>
            <a:srgbClr val="21295C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380390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세 숫자가 설계 전체를 결정합니다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43159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광학 방식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377440" y="4315968"/>
            <a:ext cx="8915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5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임계각(critical angle) 방식만이 요구 감도를 만족 — 상용 디지털 굴절계와 동일 원리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486460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광원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377440" y="4864608"/>
            <a:ext cx="8915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5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백색 LED는 그림자 경계가 28 PSU 폭으로 뭉개져 사용 불가 → 단색 LED 필수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" y="54132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온도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377440" y="5413248"/>
            <a:ext cx="8915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5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절대 측정으로는 불가능. 표준액과 시료를 같은 온도에서 재고 차분 → 0.0015 PSU/°C 로 감소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구조와 원리 —  임계각 굴절계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8696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프리즘·시료 경계에서 전반사가 시작되는 각도를 읽어 굴절률을 구합니다.</a:t>
            </a:r>
            <a:endParaRPr lang="en-US" sz="1250" dirty="0"/>
          </a:p>
        </p:txBody>
      </p:sp>
      <p:pic>
        <p:nvPicPr>
          <p:cNvPr id="4" name="Image 0" descr="fig_op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53312"/>
            <a:ext cx="11027664" cy="45537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BK7 인가,  왜 단색 LED 인가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8696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가지 선택이 감도와 측정 범위를 결정합니다.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프리즘 —  굴절률이 낮을수록 민감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53949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05840"/>
                <a:gridCol w="141732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유리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임계각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감도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BK7  n=1.5168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61.93°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 µrad/PSU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채택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SF계  n=1.72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51.09°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 µrad/PSU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889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−34 %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2999232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임계각이 클수록 cos θc 가 작아져 각도 변화가 증폭됩니다.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비싼 고굴절 유리가 오히려 불리하다는 반가운 결과입니다.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형상은 반원통(hemicylinder) — 곡면으로 들어온 빛이 중심을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향하면 굴절 없이 통과해 광로 계산이 단순해집니다.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199632" y="1371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광원 —  스펙트럼 폭이 곧 경계 번짐</a:t>
            </a:r>
            <a:endParaRPr lang="en-US" sz="15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783080"/>
          <a:ext cx="53949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143000"/>
                <a:gridCol w="1234440"/>
                <a:gridCol w="1325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광원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스펙트럼 폭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경계 번짐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백색 LED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150 nm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28 PSU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44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사용 불가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단색 LED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20 nm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3.8 PSU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채택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레이저 다이오드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 nm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0.2 PSU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889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스페클 노이즈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199632" y="340156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백색 LED는 경계선이 측정 범위 전체를 덮어버려 아무것도 읽을 수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없습니다. 레이저는 경계가 날카롭지만 스페클이 위치 검출에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랜덤 노이즈로 들어와 오히려 불리합니다.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66928" y="4315968"/>
            <a:ext cx="11027664" cy="1481328"/>
          </a:xfrm>
          <a:prstGeom prst="roundRect">
            <a:avLst>
              <a:gd name="adj" fmla="val 3704"/>
            </a:avLst>
          </a:prstGeom>
          <a:solidFill>
            <a:srgbClr val="FDF4E8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41248" y="4480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덤으로 얻는 것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41248" y="4809744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nm LED 의 자연스러운 경계 번짐 폭 3.8 PSU 는, 34 PSU 를 중심으로 ±2 PSU 를 덮습니다. 리프 수조가 실제로 머무는 범위와 정확히 일치합니다.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 광원 선택이 측정 범위까지 알아서 맞춰준 셈입니다. (2분할 포토다이오드 방식을 쓸 경우 이 폭이 그대로 선형 구간이 됩니다.)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검출기 —  TSL1401CL 리니어 어레이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8696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픽셀 × 63.5 µm.  250 mm 검출팔에서 1 픽셀이 곧 1 PSU가 됩니다.</a:t>
            </a:r>
            <a:endParaRPr lang="en-US" sz="1250" dirty="0"/>
          </a:p>
        </p:txBody>
      </p:sp>
      <p:pic>
        <p:nvPicPr>
          <p:cNvPr id="4" name="Image 0" descr="fig_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98448"/>
            <a:ext cx="763524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85632" y="1508760"/>
            <a:ext cx="310896" cy="310896"/>
          </a:xfrm>
          <a:prstGeom prst="ellipse">
            <a:avLst/>
          </a:prstGeom>
          <a:solidFill>
            <a:srgbClr val="E8901F"/>
          </a:solidFill>
          <a:ln w="12700">
            <a:solidFill>
              <a:srgbClr val="E8901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85632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942832" y="148132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어레이인가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942832" y="17830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2분할 포토다이오드는 34 PSU 밖의 RO-DI 를 볼 수 없어 1점 보정만 가능합니다.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485632" y="2880360"/>
            <a:ext cx="310896" cy="310896"/>
          </a:xfrm>
          <a:prstGeom prst="ellipse">
            <a:avLst/>
          </a:prstGeom>
          <a:solidFill>
            <a:srgbClr val="E8901F"/>
          </a:solidFill>
          <a:ln w="12700">
            <a:solidFill>
              <a:srgbClr val="E8901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85632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942832" y="285292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TSL1401 인가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8942832" y="31546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TCD1304 는 1~4 MHz ADC 가 필요해 아두이노로는 불가. TSL1401 은 클럭이 느려 나노로도 충분합니다.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485632" y="4251960"/>
            <a:ext cx="310896" cy="310896"/>
          </a:xfrm>
          <a:prstGeom prst="ellipse">
            <a:avLst/>
          </a:prstGeom>
          <a:solidFill>
            <a:srgbClr val="E8901F"/>
          </a:solidFill>
          <a:ln w="12700">
            <a:solidFill>
              <a:srgbClr val="E8901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85632" y="4251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942832" y="422452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정렬이 쉬워짐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8942832" y="45262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mm 어레이 어디에 맺혀도 소프트웨어가 경계를 찾습니다. 0.1 mm 기구 정밀도가 불필요합니다.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구조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오차가 통째로 상쇄됩니다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9D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표준액과 시료를 같은 셀에서, 같은 온도로, 몇 초 간격으로 재고 그 차이만 씁니다. 그러면 느리게 변하는 오차원은 두 측정에 똑같이 실려 차분에서 지워집니다.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56816"/>
          <a:ext cx="11027664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2889504"/>
                <a:gridCol w="22860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오차원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절대 측정 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차분 측정 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6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온도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0.667 PSU / °C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FD4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0.0015 PSU / °C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 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6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LED 파장 드리프트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 PSU / nm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FD4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거의 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 초 간격이면 무시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6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LED 광량 · 검출기 게인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직접 영향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FD4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비율 연산으로 제거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6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기구 열팽창 (250 mm Al)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0.091 PSU / °C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FD4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거의 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E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차분으로 상쇄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652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6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626864"/>
            <a:ext cx="5358384" cy="1371600"/>
          </a:xfrm>
          <a:prstGeom prst="roundRect">
            <a:avLst>
              <a:gd name="adj" fmla="val 4000"/>
            </a:avLst>
          </a:prstGeom>
          <a:solidFill>
            <a:srgbClr val="2A3560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47914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전제 조건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5102352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3D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표준액과 시료가 정말로 같은 온도여야 합니다. 그래서 온도 센서를 좋은 것으로 쓰는 것보다 플로우셀을 섬프에 담가 열적으로 물리는 쪽이 훨씬 중요합니다.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36208" y="4626864"/>
            <a:ext cx="5358384" cy="1371600"/>
          </a:xfrm>
          <a:prstGeom prst="roundRect">
            <a:avLst>
              <a:gd name="adj" fmla="val 4000"/>
            </a:avLst>
          </a:prstGeom>
          <a:solidFill>
            <a:srgbClr val="2A3560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55664" y="47914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남는 것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55664" y="5102352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3D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부품의 안정성이 아니라 표준액의 정확도가 전체 정확도를 결정합니다. 계측기 설계에서 도달하고 싶은 지점이 바로 이것입니다.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오차와 정밀도 이해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8696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자가보정 이후 남는 오차 항목들. 합계는 제곱합제곱근(RSS) 기준입니다.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371600"/>
          <a:ext cx="6858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62672" y="1371600"/>
            <a:ext cx="3931920" cy="1481328"/>
          </a:xfrm>
          <a:prstGeom prst="roundRect">
            <a:avLst>
              <a:gd name="adj" fmla="val 3704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554480"/>
            <a:ext cx="3529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 0.12 PSU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176272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종합 정밀도 (RSS)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505456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취미용 굴절계가 ±1 PSU 수준인 것과 비교하면 한 자릿수 앞선 값입니다.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662672" y="3017520"/>
            <a:ext cx="3931920" cy="2194560"/>
          </a:xfrm>
          <a:prstGeom prst="roundRect">
            <a:avLst>
              <a:gd name="adj" fmla="val 2500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63840" y="3182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읽는 법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3511296"/>
            <a:ext cx="35661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표준액 정확도가 전체를 지배합니다. 즉 더 좋은 부품을 사는 것보다 표준액을 밀폐 보관하고 사용 기한을 지키는 쪽이 정밀도에 훨씬 크게 기여합니다.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에지 검출 노이즈는 프레임 평균 횟수를 늘리면 더 줄일 수 있습니다.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" y="5449824"/>
            <a:ext cx="11027664" cy="969264"/>
          </a:xfrm>
          <a:prstGeom prst="roundRect">
            <a:avLst>
              <a:gd name="adj" fmla="val 5660"/>
            </a:avLst>
          </a:prstGeom>
          <a:solidFill>
            <a:srgbClr val="FDF4E8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" y="5596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부품 드리프트를 다 지우고 나면 남는 것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04672" y="588873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기포 — 측정면의 미세 기포 하나가 n=1.0 이 되어 경계를 망가뜨립니다   ·   표준액의 정확도 — 밀폐 보관과 사용 기한 관리가 곧 정밀도   ·   측정면의 얇은 막 — 상당 부분 상쇄되지만 완전하지 않아 UVC 와 구연산 세정이 여전히 필요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플로우셀 설계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8696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상시 침지가 아니라 필요할 때만 물을 받아 재는 구조. 생물오손 문제를 구조적으로 회피합니다.</a:t>
            </a:r>
            <a:endParaRPr lang="en-US" sz="1250" dirty="0"/>
          </a:p>
        </p:txBody>
      </p:sp>
      <p:pic>
        <p:nvPicPr>
          <p:cNvPr id="4" name="Image 0" descr="fig_c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6816" y="1316736"/>
            <a:ext cx="8238744" cy="4297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5779008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사이에는 셀을 비워 말리지 않고 35.0 PSU 표준액으로 채워둡니다. 마르면 측정면에 염 결정이 남아 그대로 오차가 되기 때문입니다.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유체 회로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8696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페리스탈틱 펌프 4개로 밸브 없이 구성. 각 펌프가 MOSFET 하나로 제어됩니다.</a:t>
            </a:r>
            <a:endParaRPr lang="en-US" sz="1250" dirty="0"/>
          </a:p>
        </p:txBody>
      </p:sp>
      <p:pic>
        <p:nvPicPr>
          <p:cNvPr id="4" name="Image 0" descr="fig_fluid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371600"/>
            <a:ext cx="99669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보관액은 왜 35.0 PSU 표준액인가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8696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잔류액의 굴절률 차이가 그대로 측정 오차가 됩니다. 오차는 대략  잔류율 × (보관액 염도 − 34).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55778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828800"/>
                <a:gridCol w="18288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보관액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1 % 잔류 시 오차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수조 유입 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RO-DI  (0 PSU)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44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 PSU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35.0 PSU 표준액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 PSU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완전 무해 (그냥 해수)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차아염소산 (표백제)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44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생물 폐사 — 자동 루프 금지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320040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배 차이입니다. 이 한 줄이 보관액 선택을 결정합니다.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46520" y="1545336"/>
            <a:ext cx="310896" cy="310896"/>
          </a:xfrm>
          <a:prstGeom prst="ellipse">
            <a:avLst/>
          </a:prstGeom>
          <a:solidFill>
            <a:srgbClr val="E8901F"/>
          </a:solidFill>
          <a:ln w="12700">
            <a:solidFill>
              <a:srgbClr val="E8901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46520" y="1545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903720" y="15179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잔류 오차가 사라짐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903720" y="1819656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보관액과 시료의 염도 차이가 1 PSU 뿐이라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캐리오버에 거의 둔감해집니다.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46520" y="2734056"/>
            <a:ext cx="310896" cy="310896"/>
          </a:xfrm>
          <a:prstGeom prst="ellipse">
            <a:avLst/>
          </a:prstGeom>
          <a:solidFill>
            <a:srgbClr val="E8901F"/>
          </a:solidFill>
          <a:ln w="12700">
            <a:solidFill>
              <a:srgbClr val="E890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903720" y="27066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수조에 완전 무해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903720" y="3008376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복귀 라인으로 넘어가도 그냥 해수입니다.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화학 약품 유입 위험이 원천적으로 없습니다.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46520" y="3922776"/>
            <a:ext cx="310896" cy="310896"/>
          </a:xfrm>
          <a:prstGeom prst="ellipse">
            <a:avLst/>
          </a:prstGeom>
          <a:solidFill>
            <a:srgbClr val="E8901F"/>
          </a:solidFill>
          <a:ln w="12700">
            <a:solidFill>
              <a:srgbClr val="E8901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903720" y="38953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공짜 보정점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4197096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유휴 상태의 셀이 항상 알려진 표준액으로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채워져 있어, 매 사이클 직전 보정점이 생깁니다.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66928" y="3712464"/>
            <a:ext cx="5577840" cy="2121408"/>
          </a:xfrm>
          <a:prstGeom prst="roundRect">
            <a:avLst>
              <a:gd name="adj" fmla="val 2586"/>
            </a:avLst>
          </a:prstGeom>
          <a:solidFill>
            <a:srgbClr val="F3EEF8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6384" y="389534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3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오손 방지는 화학약품 대신 UVC LED 로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786384" y="4261104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유휴 시간 동안 셀 내부에 265 nm UVC LED 를 간헐 점등합니다. 해양 광학 센서의 방오 대책으로 검증된 방법이고, 소모품이 없으며 수조 유입 위험이 없습니다.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 : UVC 는 실리콘 튜브 · PMMA · 접착제를 열화시킵니다. UVC 근처는 PTFE 나 유리를 쓰고, 프리즘 접착에 UV 경화 접착제는 피하십시오.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46520" y="4974336"/>
            <a:ext cx="5148072" cy="859536"/>
          </a:xfrm>
          <a:prstGeom prst="roundRect">
            <a:avLst>
              <a:gd name="adj" fmla="val 6383"/>
            </a:avLst>
          </a:prstGeom>
          <a:solidFill>
            <a:srgbClr val="FDF4E8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56832" y="51206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스케일 대책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6656832" y="53949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리프 수조는 탄산칼슘이 잘 석출됩니다. 월 1회 묽은 구연산 순환 → RO-DI 헹굼 루틴을 넣으십시오.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아두이노 배선도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8696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Nano 기준. 핀 여유가 충분하며, 12 V 펌프 전원은 로직과 분리합니다.</a:t>
            </a:r>
            <a:endParaRPr lang="en-US" sz="1250" dirty="0"/>
          </a:p>
        </p:txBody>
      </p:sp>
      <p:pic>
        <p:nvPicPr>
          <p:cNvPr id="4" name="Image 0" descr="fig_wi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1298448"/>
            <a:ext cx="9253728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HC-06 연결 —  분압기를 빠뜨리지 마십시오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8696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ZS-040 계열 보드는 통신 핀이 3.3 V 소자입니다. 나노는 5 V 로직이므로 한쪽 방향만 보호가 필요합니다.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EAF4EC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6420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HC-06  TXD  →  Nano  D7      직결 가능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HC-06 이 내보내는 3.3 V 를 ATmega328P 가 HIGH 로 충분히 인식합니다.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(대략 3 V 이상이면 HIGH)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99632" y="146304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BEDEC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66420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 D8  →  HC-06  RXD      분압기 필수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55664" y="201168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V 를 그대로 넣으면 내부 UART 나 레귤레이터가 손상되거나 수명이 줄어듭니다.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kΩ / 2 kΩ 로 약 3.3 V 로 낮추십시오.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017520"/>
            <a:ext cx="11027664" cy="1225296"/>
          </a:xfrm>
          <a:prstGeom prst="roundRect">
            <a:avLst>
              <a:gd name="adj" fmla="val 4478"/>
            </a:avLst>
          </a:prstGeom>
          <a:solidFill>
            <a:srgbClr val="21295C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200400"/>
            <a:ext cx="6400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F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D8  ──[ 1 kΩ ]──┬──  HC-06  RXD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F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└──[ 2 kΩ ]── GND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3493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V × 2 kΩ / (1 kΩ + 2 kΩ)  =  3.33 V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425696"/>
          <a:ext cx="11027664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92454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전원 VCC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ZS-040 보드에는 3.3 V 레귤레이터가 있어 3.6~6 V 입력이 필요합니다. 5 V 를 쓰십시오. 3.3 V 직결은 드롭아웃 부족으로 동작이 불안정해집니다.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판매 문구 주의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"5 V MCU 직결 가능"은 방향을 구분하지 않은 뭉뚱그린 표현입니다. RXD 는 5 V 내성이 없습니다.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SoftwareSerial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송신 중 인터럽트를 막으므로 TSL1401 프레임 캡처와 겹치지 않게 순차 처리하십시오.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ESP32 대안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ESP32 를 쓰면 블루투스가 내장이라 HC-06 과 분압기가 모두 불필요합니다. 다만 ADC 선형성 보정이 필요합니다.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블루투스 명령어 세트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8696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스마트폰 BT 시리얼 터미널에서 한 줄씩 입력합니다. 대소문자는 구분하지 않습니다.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533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절차 명령  (순차 실행)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5541264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621024"/>
              </a:tblGrid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명령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동작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MEAS STD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표준용액 측정 → 보정점 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DRAIN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 비우기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FILL RODI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RO-DI 주입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MEAS RODI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RO-DI 측정 → 보정점 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FILL TANK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수조물 주입 (값이 평평해질 때까지)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MEAS TANK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수조물 측정 → 시료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FILL STD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표준용액 주입 · 보관 모드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검량선 계산 · 결과 출력 · 종료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135331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운용 명령</a:t>
            </a:r>
            <a:endParaRPr lang="en-US" sz="14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00784"/>
          <a:ext cx="528523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364992"/>
              </a:tblGrid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명령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동작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전체 시퀀스 1회 자동 실행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AUTO ON / OFF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1일 2회 자동 측정 (09:00 / 21:00)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현재 상태 · 온도 · 최근 측정값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LOG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최근 측정 이력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UVC ON / OFF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UVC LED 수동 제어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DUMP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 px 원시 프레임 덤프 (디버그)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STOP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비상 정지 — 모든 펌프 즉시 off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HELP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명령 목록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4956048"/>
            <a:ext cx="11027664" cy="1024128"/>
          </a:xfrm>
          <a:prstGeom prst="roundRect">
            <a:avLst>
              <a:gd name="adj" fmla="val 5357"/>
            </a:avLst>
          </a:prstGeom>
          <a:solidFill>
            <a:srgbClr val="21295C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04672" y="50840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예시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534009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F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MEAS TANK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F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  edge=63.58px  T=26.12C  -&gt;  34.12 PSU     cal: RODI 0.00@29.98px | STD 35.00@64.88px | slope 0.997 px/PSU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측정 시퀀스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8696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 2회. 각 단계는 블루투스로 하나씩 보낼 수도 있고, RUN 한 번으로 전부 돌릴 수도 있습니다.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2048256" cy="1280160"/>
          </a:xfrm>
          <a:prstGeom prst="roundRect">
            <a:avLst>
              <a:gd name="adj" fmla="val 4286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36192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938528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표준용액 측정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322576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보정점 A 획득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98064" y="1389888"/>
            <a:ext cx="2048256" cy="1280160"/>
          </a:xfrm>
          <a:prstGeom prst="roundRect">
            <a:avLst>
              <a:gd name="adj" fmla="val 4286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4368" y="1536192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44368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44368" y="1938528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표준용액 비우기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2322576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1389888"/>
            <a:ext cx="2048256" cy="1280160"/>
          </a:xfrm>
          <a:prstGeom prst="roundRect">
            <a:avLst>
              <a:gd name="adj" fmla="val 4286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75504" y="1536192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75504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175504" y="1938528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RO-DI 주입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75504" y="2322576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헹굼 겸용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60336" y="1389888"/>
            <a:ext cx="2048256" cy="1280160"/>
          </a:xfrm>
          <a:prstGeom prst="roundRect">
            <a:avLst>
              <a:gd name="adj" fmla="val 4286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1536192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664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1938528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RO-DI 측정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2322576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보정점 B 획득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91472" y="1389888"/>
            <a:ext cx="2048256" cy="1280160"/>
          </a:xfrm>
          <a:prstGeom prst="roundRect">
            <a:avLst>
              <a:gd name="adj" fmla="val 4286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37776" y="1536192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37776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637776" y="1938528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RO-DI 비우기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637776" y="2322576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2871216"/>
            <a:ext cx="2048256" cy="1280160"/>
          </a:xfrm>
          <a:prstGeom prst="roundRect">
            <a:avLst>
              <a:gd name="adj" fmla="val 4286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3017520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3232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341985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수조물 주입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" y="380390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값이 평평해질 때까지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98064" y="2871216"/>
            <a:ext cx="2048256" cy="1280160"/>
          </a:xfrm>
          <a:prstGeom prst="roundRect">
            <a:avLst>
              <a:gd name="adj" fmla="val 4286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44368" y="3017520"/>
            <a:ext cx="329184" cy="329184"/>
          </a:xfrm>
          <a:prstGeom prst="ellipse">
            <a:avLst/>
          </a:prstGeom>
          <a:solidFill>
            <a:srgbClr val="E890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944368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2944368" y="341985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수조물 측정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2944368" y="380390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시료 · 온도 동시 기록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0" y="2871216"/>
            <a:ext cx="2048256" cy="1280160"/>
          </a:xfrm>
          <a:prstGeom prst="roundRect">
            <a:avLst>
              <a:gd name="adj" fmla="val 4286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75504" y="3017520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17550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175504" y="341985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수조물 비우기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175504" y="380390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DRAIN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260336" y="2871216"/>
            <a:ext cx="2048256" cy="1280160"/>
          </a:xfrm>
          <a:prstGeom prst="roundRect">
            <a:avLst>
              <a:gd name="adj" fmla="val 4286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06640" y="3017520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40664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406640" y="341985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표준용액 주입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406640" y="380390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보관 모드 복귀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491472" y="2871216"/>
            <a:ext cx="2048256" cy="1280160"/>
          </a:xfrm>
          <a:prstGeom prst="roundRect">
            <a:avLst>
              <a:gd name="adj" fmla="val 4286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637776" y="301752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637776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9637776" y="341985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표준액 재확인 · 종료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9637776" y="380390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≈ A′ 이면 사이클 유효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66928" y="448056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EAF2F7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04672" y="46451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10번 단계가 특히 중요합니다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804672" y="4956048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처음과 끝의 표준액 값이 일치하면 그 사이클은 신뢰할 수 있고, 어긋나면 측정 중 무언가 변했다는 뜻입니다. 장치가 스스로 진단합니다.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4480560"/>
          <a:ext cx="53949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051560"/>
                <a:gridCol w="27432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주입 (FILL)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30 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 2 mL × 10배 = 20 mL @ 40 mL/min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안정화 (SETTLE)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45 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기포 배출 + 열평형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측정 (MEAS)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15 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프레임 100회 평균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배수 (DRAIN)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25 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사이클 합계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8 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단계 + 검증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재료와 부품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8696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광학 · 유체 · 전자 · 소모품 네 갈래로 나눈 전체 부품 목록입니다.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27664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3200400"/>
                <a:gridCol w="5221224"/>
                <a:gridCol w="155448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부품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사양 · 비고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광학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BK7 반원통 렌즈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반경 10~25 mm, 길이 25 mm 내외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광학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단색 LED 590 nm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스펙트럼 폭 20 nm 이하, 정전류 구동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광학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TSL1401CL 리니어 어레이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 px × 63.5 µm, 아두이노용 모듈 유통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광학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슬릿 · 차광 하우징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흑색 알루미늄 또는 3D 프린트, 검출팔 250 mm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유체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페리스탈틱 도징 펌프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V, 40~60 mL/min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유체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플로우셀 본체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PTFE 또는 PVDF (UVC 근처는 PMMA 금지)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유체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O-링 · 튜브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Viton O-링, 펌프부만 실리콘 · 나머지 PTFE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Arduino Nano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ATmega328P 5 V (ESP32 로 대체 가능)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HC-06 (ZS-040)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kΩ / 2 kΩ 분압기 동반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DS18B20 · DS3231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온도(셀 유로 내부) · RTC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각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MOSFET · 플라이백 다이오드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IRLZ44N 등 로직레벨 ×6, 1N4007 ×4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소모품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35.0 PSU 표준 해수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보관액 겸 보정액. 월 250 mL 내외 소모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소모품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RO-DI · 구연산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헹굼 · 월 1회 스케일 제거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광학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UVC LED 265 nm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 mW, 유휴 시 간헐 살균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제작 순서와 검증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8696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광학계를 먼저 세우고, 유체는 나중에 붙이는 편이 디버깅이 쉽습니다.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6858000" cy="841248"/>
          </a:xfrm>
          <a:prstGeom prst="roundRect">
            <a:avLst>
              <a:gd name="adj" fmla="val 6522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6002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광학 벤치 가조립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874520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렌즈·LED·어레이를 임시 고정하고 공기 중에서 어레이 전체가 밝아지는지 확인합니다. 이것이 풀스케일 기준점입니다.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331720"/>
            <a:ext cx="6858000" cy="841248"/>
          </a:xfrm>
          <a:prstGeom prst="roundRect">
            <a:avLst>
              <a:gd name="adj" fmla="val 6522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514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514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정적 시료 시험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788920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측정면에 RO-DI 한 방울, 표준액 한 방울을 번갈아 올려 경계 픽셀이 약 34 px 이동하는지 확인합니다. 여기서 감도가 맞으면 광학계는 완성입니다.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246120"/>
            <a:ext cx="6858000" cy="841248"/>
          </a:xfrm>
          <a:prstGeom prst="roundRect">
            <a:avLst>
              <a:gd name="adj" fmla="val 6522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3429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플로우셀 결합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3703320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셀을 조립하고 누수·기포를 확인합니다. 주입 중 측정값이 평평해지는 곡선이 보이면 정상입니다.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160520"/>
            <a:ext cx="6858000" cy="841248"/>
          </a:xfrm>
          <a:prstGeom prst="roundRect">
            <a:avLst>
              <a:gd name="adj" fmla="val 6522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4343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343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펌프 · 제어 결합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617720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펌프를 MOSFET 으로 하나씩 검증한 뒤 시퀀스를 붙입니다. 플라이백 다이오드를 반드시 먼저 다십시오.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5074920"/>
            <a:ext cx="6858000" cy="841248"/>
          </a:xfrm>
          <a:prstGeom prst="roundRect">
            <a:avLst>
              <a:gd name="adj" fmla="val 6522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52578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5단계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5257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블루투스 · 자동화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5532120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명령으로 전 단계를 확인한 후 RUN, 그다음 AUTO 를 켭니다.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62672" y="1417320"/>
            <a:ext cx="3931920" cy="2194560"/>
          </a:xfrm>
          <a:prstGeom prst="roundRect">
            <a:avLst>
              <a:gd name="adj" fmla="val 2500"/>
            </a:avLst>
          </a:prstGeom>
          <a:solidFill>
            <a:srgbClr val="EAF2F7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82128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방법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882128" y="1938528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표준액을 두 번 재서 재현성 확인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알려진 다른 농도의 용액으로 교차 확인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상용 굴절계 값과 비교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 와 A′ 의 차이를 매 사이클 기록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플러시 곡선이 평평해지는지 확인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662672" y="3749040"/>
            <a:ext cx="3931920" cy="2194560"/>
          </a:xfrm>
          <a:prstGeom prst="roundRect">
            <a:avLst>
              <a:gd name="adj" fmla="val 2500"/>
            </a:avLst>
          </a:prstGeom>
          <a:solidFill>
            <a:srgbClr val="FDF4E8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82128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먼저 확인할 것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7882128" y="4279392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기포가 최대 적입니다. 측정면에 미세 기포 하나가 붙으면 그 자리가 n=1.0 이 되어 경계선을 망가뜨립니다.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번 읽어 이상치를 버리는 로직을 처음부터 넣으십시오.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 주의사항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8696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살아 있는 생물이 있는 수조에 연결되는 장치입니다. 배관 실수 한 번이 사고가 됩니다.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27664" cy="859536"/>
          </a:xfrm>
          <a:prstGeom prst="roundRect">
            <a:avLst>
              <a:gd name="adj" fmla="val 6383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82496"/>
            <a:ext cx="329184" cy="329184"/>
          </a:xfrm>
          <a:prstGeom prst="ellipse">
            <a:avLst/>
          </a:prstGeom>
          <a:solidFill>
            <a:srgbClr val="B445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682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5453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사이펀 · 침수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83794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수조에 연결된 펌프 루프는 배관을 잘못하면 정지 중 사이펀이 걸려 바닥에 물난리가 납니다. 페리스탈틱 펌프는 정지 시 튜브가 눌려 있어 사이펀이 원천 차단되므로 반드시 이 방식을 쓰십시오.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350008"/>
            <a:ext cx="11027664" cy="859536"/>
          </a:xfrm>
          <a:prstGeom prst="roundRect">
            <a:avLst>
              <a:gd name="adj" fmla="val 6383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15184"/>
            <a:ext cx="329184" cy="329184"/>
          </a:xfrm>
          <a:prstGeom prst="ellipse">
            <a:avLst/>
          </a:prstGeom>
          <a:solidFill>
            <a:srgbClr val="B445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24780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세정액 유입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27706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표백제는 미량이라도 수조에 들어가면 생물이 죽습니다. 자동 루프 안에 두지 말고, 월 1회 셀을 분리해 수동으로 하며 폐수는 반드시 배수로 보내십시오.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282696"/>
            <a:ext cx="11027664" cy="859536"/>
          </a:xfrm>
          <a:prstGeom prst="roundRect">
            <a:avLst>
              <a:gd name="adj" fmla="val 6383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47872"/>
            <a:ext cx="329184" cy="329184"/>
          </a:xfrm>
          <a:prstGeom prst="ellipse">
            <a:avLst/>
          </a:prstGeom>
          <a:solidFill>
            <a:srgbClr val="7B4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34107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UVC 노출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7033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265 nm 는 눈과 피부에 유해합니다. 셀은 완전 차광 하우징 안에 두고, 하우징이 열리면 UVC 가 꺼지도록 인터록을 넣는 것이 좋습니다.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215384"/>
            <a:ext cx="11027664" cy="859536"/>
          </a:xfrm>
          <a:prstGeom prst="roundRect">
            <a:avLst>
              <a:gd name="adj" fmla="val 6383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480560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4480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4343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전원 분리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463600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V 펌프 전원과 5 V 로직 전원을 분리하고 접지를 한 점에서 모으십시오. 모터마다 플라이백 다이오드를 달지 않으면 역기전력이 MCU 를 리셋시킵니다.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5148072"/>
            <a:ext cx="11027664" cy="859536"/>
          </a:xfrm>
          <a:prstGeom prst="roundRect">
            <a:avLst>
              <a:gd name="adj" fmla="val 6383"/>
            </a:avLst>
          </a:prstGeom>
          <a:solidFill>
            <a:srgbClr val="F2F7FA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13248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6384" y="5413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98448" y="52760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펌프 동작 시간 제한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298448" y="556869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88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펌프마다 최대 동작 시간을 코드에 넣고, 초과하면 STOP 으로 빠지게 하십시오. 튜브가 빠졌을 때 무한정 도는 것을 막습니다.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583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취미용 부품으로 만드는 실험실급 구조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0078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9D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설계의 강점은 부품이 좋아서가 아니라, 매 측정마다 알려진 표준을 스스로 재기 때문입니다.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9D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전도도 프로브로는 할 수 없는 일입니다.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542032"/>
            <a:ext cx="2084832" cy="1133856"/>
          </a:xfrm>
          <a:prstGeom prst="roundRect">
            <a:avLst>
              <a:gd name="adj" fmla="val 4839"/>
            </a:avLst>
          </a:prstGeom>
          <a:solidFill>
            <a:srgbClr val="2A3560"/>
          </a:solidFill>
          <a:ln w="12700">
            <a:solidFill>
              <a:srgbClr val="4652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270662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px ≈ 1 PSU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314553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mm 검출팔 기준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35808" y="2542032"/>
            <a:ext cx="2084832" cy="1133856"/>
          </a:xfrm>
          <a:prstGeom prst="roundRect">
            <a:avLst>
              <a:gd name="adj" fmla="val 4839"/>
            </a:avLst>
          </a:prstGeom>
          <a:solidFill>
            <a:srgbClr val="2A3560"/>
          </a:solidFill>
          <a:ln w="12700">
            <a:solidFill>
              <a:srgbClr val="4652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270662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 0.12 PSU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314553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종합 정밀도 (RSS)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48656" y="2542032"/>
            <a:ext cx="2084832" cy="1133856"/>
          </a:xfrm>
          <a:prstGeom prst="roundRect">
            <a:avLst>
              <a:gd name="adj" fmla="val 4839"/>
            </a:avLst>
          </a:prstGeom>
          <a:solidFill>
            <a:srgbClr val="2A3560"/>
          </a:solidFill>
          <a:ln w="12700">
            <a:solidFill>
              <a:srgbClr val="4652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13248" y="270662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배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13248" y="314553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온도 오차 개선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61504" y="2542032"/>
            <a:ext cx="2084832" cy="1133856"/>
          </a:xfrm>
          <a:prstGeom prst="roundRect">
            <a:avLst>
              <a:gd name="adj" fmla="val 4839"/>
            </a:avLst>
          </a:prstGeom>
          <a:solidFill>
            <a:srgbClr val="2A3560"/>
          </a:solidFill>
          <a:ln w="12700">
            <a:solidFill>
              <a:srgbClr val="4652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26096" y="270662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8 분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626096" y="314553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사이클 소요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74352" y="2542032"/>
            <a:ext cx="2084832" cy="1133856"/>
          </a:xfrm>
          <a:prstGeom prst="roundRect">
            <a:avLst>
              <a:gd name="adj" fmla="val 4839"/>
            </a:avLst>
          </a:prstGeom>
          <a:solidFill>
            <a:srgbClr val="2A3560"/>
          </a:solidFill>
          <a:ln w="12700">
            <a:solidFill>
              <a:srgbClr val="46528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38944" y="270662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1일 2회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838944" y="314553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무인 자동 측정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96849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및 참고자료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29768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FBB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굴절률 경험식 계수 (본문의 모든 수치는 이 식으로 직접 계산) — Index of Refraction of Seawater and Freshwater as a Function of Wavelength and Temperature, Oregon State University, Parrish Research Group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FBB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TSL1401CL 128×1 Linear Sensor Array 데이터시트 — ams-osram (Mouser)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FBB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임계각 · 그림자 경계 측정 원리 — Digital handheld refractometer, Wikipedia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FBB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TCD1304 의 MHz 샘플링 한계 사례 (TSL1401 권장 근거) — LED refractometry with Arduino, Arduino Forum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FBB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해양 광학 센서의 생물오손과 방오 대책 — Biofouling protection for marine environmental sensors, Ocean Science (Copernicus) / Antifouling Strategies for Sensors Used in Water Monitoring, Sensors (MDPI)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9FBB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HC-05 · HC-06 ZS-040 보드의 전원 · 로직 레벨 — Martyn Currey, ProtoSupplies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해수 수조 광학식 염도 측정 시스템</dc:title>
  <dc:subject>PptxGenJS Presentation</dc:subject>
  <dc:creator>KISTI RDC</dc:creator>
  <cp:lastModifiedBy>KISTI RDC</cp:lastModifiedBy>
  <cp:revision>1</cp:revision>
  <dcterms:created xsi:type="dcterms:W3CDTF">2026-08-31T01:58:29Z</dcterms:created>
  <dcterms:modified xsi:type="dcterms:W3CDTF">2026-08-31T01:58:29Z</dcterms:modified>
</cp:coreProperties>
</file>